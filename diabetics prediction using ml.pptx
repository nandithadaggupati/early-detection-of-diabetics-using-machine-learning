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56" r:id="rId2"/>
    <p:sldId id="525" r:id="rId3"/>
    <p:sldId id="533" r:id="rId4"/>
    <p:sldId id="526" r:id="rId5"/>
    <p:sldId id="534" r:id="rId6"/>
    <p:sldId id="537" r:id="rId7"/>
    <p:sldId id="538" r:id="rId8"/>
    <p:sldId id="540" r:id="rId9"/>
    <p:sldId id="545" r:id="rId10"/>
    <p:sldId id="546" r:id="rId11"/>
    <p:sldId id="547" r:id="rId12"/>
    <p:sldId id="541" r:id="rId13"/>
    <p:sldId id="544" r:id="rId14"/>
    <p:sldId id="539" r:id="rId15"/>
    <p:sldId id="529" r:id="rId16"/>
    <p:sldId id="543" r:id="rId17"/>
    <p:sldId id="53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94222-FA93-4312-9DE1-4575E2EA1EE0}" v="6" dt="2025-09-21T15:28:07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24" autoAdjust="0"/>
  </p:normalViewPr>
  <p:slideViewPr>
    <p:cSldViewPr>
      <p:cViewPr>
        <p:scale>
          <a:sx n="66" d="100"/>
          <a:sy n="66" d="100"/>
        </p:scale>
        <p:origin x="-5" y="25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nanditha daggupati" userId="a9f9d1108938cee7" providerId="LiveId" clId="{262644B8-7085-42E1-A67E-F26B45E42C6C}"/>
    <pc:docChg chg="undo custSel addSld modSld sldOrd">
      <pc:chgData name="sai nanditha daggupati" userId="a9f9d1108938cee7" providerId="LiveId" clId="{262644B8-7085-42E1-A67E-F26B45E42C6C}" dt="2025-09-21T15:31:47.256" v="224" actId="113"/>
      <pc:docMkLst>
        <pc:docMk/>
      </pc:docMkLst>
      <pc:sldChg chg="ord">
        <pc:chgData name="sai nanditha daggupati" userId="a9f9d1108938cee7" providerId="LiveId" clId="{262644B8-7085-42E1-A67E-F26B45E42C6C}" dt="2025-09-21T15:30:53.734" v="166"/>
        <pc:sldMkLst>
          <pc:docMk/>
          <pc:sldMk cId="0" sldId="533"/>
        </pc:sldMkLst>
      </pc:sldChg>
      <pc:sldChg chg="addSp modSp new mod">
        <pc:chgData name="sai nanditha daggupati" userId="a9f9d1108938cee7" providerId="LiveId" clId="{262644B8-7085-42E1-A67E-F26B45E42C6C}" dt="2025-09-21T15:31:47.256" v="224" actId="113"/>
        <pc:sldMkLst>
          <pc:docMk/>
          <pc:sldMk cId="3716404794" sldId="545"/>
        </pc:sldMkLst>
        <pc:spChg chg="add mod">
          <ac:chgData name="sai nanditha daggupati" userId="a9f9d1108938cee7" providerId="LiveId" clId="{262644B8-7085-42E1-A67E-F26B45E42C6C}" dt="2025-09-21T15:31:47.256" v="224" actId="113"/>
          <ac:spMkLst>
            <pc:docMk/>
            <pc:sldMk cId="3716404794" sldId="545"/>
            <ac:spMk id="3" creationId="{550935B3-A4BD-D667-6B99-04419F3A5681}"/>
          </ac:spMkLst>
        </pc:spChg>
      </pc:sldChg>
      <pc:sldChg chg="addSp modSp new mod">
        <pc:chgData name="sai nanditha daggupati" userId="a9f9d1108938cee7" providerId="LiveId" clId="{262644B8-7085-42E1-A67E-F26B45E42C6C}" dt="2025-09-21T15:28:07.205" v="91"/>
        <pc:sldMkLst>
          <pc:docMk/>
          <pc:sldMk cId="3173495669" sldId="546"/>
        </pc:sldMkLst>
        <pc:spChg chg="add mod">
          <ac:chgData name="sai nanditha daggupati" userId="a9f9d1108938cee7" providerId="LiveId" clId="{262644B8-7085-42E1-A67E-F26B45E42C6C}" dt="2025-09-21T15:28:07.205" v="91"/>
          <ac:spMkLst>
            <pc:docMk/>
            <pc:sldMk cId="3173495669" sldId="546"/>
            <ac:spMk id="3" creationId="{EDEC955B-C180-E8A8-1257-01E14DEB645E}"/>
          </ac:spMkLst>
        </pc:spChg>
      </pc:sldChg>
      <pc:sldChg chg="addSp delSp modSp new mod">
        <pc:chgData name="sai nanditha daggupati" userId="a9f9d1108938cee7" providerId="LiveId" clId="{262644B8-7085-42E1-A67E-F26B45E42C6C}" dt="2025-09-21T15:27:31.953" v="88" actId="14100"/>
        <pc:sldMkLst>
          <pc:docMk/>
          <pc:sldMk cId="2331423684" sldId="547"/>
        </pc:sldMkLst>
        <pc:spChg chg="add mod">
          <ac:chgData name="sai nanditha daggupati" userId="a9f9d1108938cee7" providerId="LiveId" clId="{262644B8-7085-42E1-A67E-F26B45E42C6C}" dt="2025-09-21T15:27:31.953" v="88" actId="14100"/>
          <ac:spMkLst>
            <pc:docMk/>
            <pc:sldMk cId="2331423684" sldId="547"/>
            <ac:spMk id="3" creationId="{02A9B2E8-4285-AF4B-5179-9B1686693A60}"/>
          </ac:spMkLst>
        </pc:spChg>
        <pc:spChg chg="add del mod">
          <ac:chgData name="sai nanditha daggupati" userId="a9f9d1108938cee7" providerId="LiveId" clId="{262644B8-7085-42E1-A67E-F26B45E42C6C}" dt="2025-09-21T15:25:29.399" v="75"/>
          <ac:spMkLst>
            <pc:docMk/>
            <pc:sldMk cId="2331423684" sldId="547"/>
            <ac:spMk id="5" creationId="{22CB6627-4090-BF8C-7951-ABCD83DC71E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5658687-0CEA-4055-A28D-6A7B0ACD688F}" type="datetime1">
              <a:rPr lang="en-IN" smtClean="0"/>
              <a:pPr/>
              <a:t>21-09-2025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57A8F95D-D342-423C-90A4-62AE2284CCBC}" type="datetime1">
              <a:rPr lang="en-IN" smtClean="0"/>
              <a:pPr/>
              <a:t>21-09-2025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FC2A9-ECCF-44DF-970F-75D2FCB69DF9}" type="datetime1">
              <a:rPr lang="en-IN" smtClean="0"/>
              <a:pPr/>
              <a:t>21-09-2025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DL&amp;CO                                                                G.LAVARAJU, Associate Professor,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lang="en-US" sz="4000" dirty="0">
              <a:solidFill>
                <a:srgbClr val="00B050"/>
              </a:solidFill>
              <a:latin typeface="Arial Rounded MT Bold" panose="020F0704030504030204" pitchFamily="34" charset="0"/>
              <a:ea typeface="Source Sans Pro" panose="020B0503030403020204" pitchFamily="34" charset="0"/>
              <a:cs typeface="+mj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1FE6A4-FF5D-D94C-A68D-4F58E521FA13}"/>
              </a:ext>
            </a:extLst>
          </p:cNvPr>
          <p:cNvSpPr txBox="1">
            <a:spLocks/>
          </p:cNvSpPr>
          <p:nvPr/>
        </p:nvSpPr>
        <p:spPr>
          <a:xfrm>
            <a:off x="1127448" y="1761964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lang="en-US" sz="4000" dirty="0">
              <a:solidFill>
                <a:srgbClr val="0000FF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1384" y="3717032"/>
            <a:ext cx="4752528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Presented by:</a:t>
            </a:r>
            <a:r>
              <a:rPr lang="en-US" dirty="0"/>
              <a:t>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23A91A61E7 –D .SAI NANDITHA– AIML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1FE6A4-FF5D-D94C-A68D-4F58E521FA13}"/>
              </a:ext>
            </a:extLst>
          </p:cNvPr>
          <p:cNvSpPr txBox="1">
            <a:spLocks/>
          </p:cNvSpPr>
          <p:nvPr/>
        </p:nvSpPr>
        <p:spPr>
          <a:xfrm>
            <a:off x="839416" y="1700808"/>
            <a:ext cx="10962087" cy="20053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lang="en-US" sz="4000" dirty="0"/>
          </a:p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dirty="0">
                <a:solidFill>
                  <a:srgbClr val="FF0000"/>
                </a:solidFill>
                <a:latin typeface="Abadi" panose="020B0604020104020204" pitchFamily="34" charset="0"/>
              </a:rPr>
              <a:t>SUMMER INTERNSHIP REVIEW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lang="en-US" sz="4000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dirty="0"/>
              <a:t>Diabetes Prediction Using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2631" y="3789041"/>
            <a:ext cx="475252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</a:t>
            </a:r>
            <a:endParaRPr lang="en-US" b="1" dirty="0"/>
          </a:p>
          <a:p>
            <a:pPr marL="285750" indent="-285750">
              <a:lnSpc>
                <a:spcPct val="150000"/>
              </a:lnSpc>
            </a:pP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u="sng" dirty="0"/>
              <a:t>PROBLEM STATEMENT:</a:t>
            </a:r>
          </a:p>
          <a:p>
            <a:pPr>
              <a:buNone/>
            </a:pPr>
            <a:endParaRPr lang="en-US" u="sng" dirty="0"/>
          </a:p>
          <a:p>
            <a:r>
              <a:rPr lang="en-US" dirty="0"/>
              <a:t>Diabetes is a chronic disease that affects millions worldwide.</a:t>
            </a:r>
          </a:p>
          <a:p>
            <a:r>
              <a:rPr lang="en-US" dirty="0"/>
              <a:t>Early detection is crucial to reduce severe health risks.</a:t>
            </a:r>
          </a:p>
          <a:p>
            <a:r>
              <a:rPr lang="en-US" dirty="0"/>
              <a:t>Traditional diagnosis requires time-consuming medical tests.</a:t>
            </a:r>
          </a:p>
          <a:p>
            <a:r>
              <a:rPr lang="en-US" dirty="0"/>
              <a:t>Need for an </a:t>
            </a:r>
            <a:r>
              <a:rPr lang="en-US" b="1" dirty="0"/>
              <a:t>automatic system</a:t>
            </a:r>
            <a:r>
              <a:rPr lang="en-US" dirty="0"/>
              <a:t> to predict diabetes using patient health data.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Dataset Used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Dataset:</a:t>
            </a:r>
            <a:r>
              <a:rPr lang="en-IN" dirty="0"/>
              <a:t> PIMA Indian Diabetes Dataset (from UCI Repository).</a:t>
            </a:r>
          </a:p>
          <a:p>
            <a:r>
              <a:rPr lang="en-IN" b="1" dirty="0"/>
              <a:t>Features:</a:t>
            </a:r>
            <a:r>
              <a:rPr lang="en-IN" dirty="0"/>
              <a:t> Pregnancies, Glucose, Blood Pressure, Skin Thickness, Insulin, BMI, Age, </a:t>
            </a:r>
            <a:r>
              <a:rPr lang="en-IN" dirty="0" err="1"/>
              <a:t>DiabetesPedigreeFunction</a:t>
            </a:r>
            <a:r>
              <a:rPr lang="en-IN" dirty="0"/>
              <a:t>.</a:t>
            </a:r>
          </a:p>
          <a:p>
            <a:r>
              <a:rPr lang="en-IN" b="1" dirty="0"/>
              <a:t>Samples:</a:t>
            </a:r>
            <a:r>
              <a:rPr lang="en-IN" dirty="0"/>
              <a:t> 768 records, 8 input features + 1 output (Outcome).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Objectives:</a:t>
            </a:r>
            <a:endParaRPr lang="en-US" dirty="0"/>
          </a:p>
          <a:p>
            <a:r>
              <a:rPr lang="en-US" dirty="0"/>
              <a:t>Build a machine learning model to predict whether a person has diabetes.</a:t>
            </a:r>
          </a:p>
          <a:p>
            <a:r>
              <a:rPr lang="en-US" dirty="0"/>
              <a:t>Use health-related features (like glucose, BMI, age, etc.) for prediction.</a:t>
            </a:r>
          </a:p>
          <a:p>
            <a:r>
              <a:rPr lang="en-US" dirty="0"/>
              <a:t>Improve accuracy compared to manual/statistical methods.</a:t>
            </a:r>
          </a:p>
          <a:p>
            <a:r>
              <a:rPr lang="en-US" b="1" dirty="0"/>
              <a:t>Scope:</a:t>
            </a:r>
            <a:endParaRPr lang="en-US" dirty="0"/>
          </a:p>
          <a:p>
            <a:r>
              <a:rPr lang="en-US" dirty="0"/>
              <a:t>Can be integrated into healthcare apps for </a:t>
            </a:r>
            <a:r>
              <a:rPr lang="en-US" b="1" dirty="0"/>
              <a:t>real-time prediction</a:t>
            </a:r>
            <a:r>
              <a:rPr lang="en-US" dirty="0"/>
              <a:t>.</a:t>
            </a:r>
          </a:p>
          <a:p>
            <a:r>
              <a:rPr lang="en-US" dirty="0"/>
              <a:t>Helps doctors and patients in </a:t>
            </a:r>
            <a:r>
              <a:rPr lang="en-US" b="1" dirty="0"/>
              <a:t>early risk assessment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BFBB3-899A-7E16-BC78-E484D3F02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Tools &amp; Technologies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Programming Language:</a:t>
            </a:r>
            <a:r>
              <a:rPr lang="en-IN" dirty="0"/>
              <a:t> Python</a:t>
            </a:r>
          </a:p>
          <a:p>
            <a:r>
              <a:rPr lang="en-IN" b="1" dirty="0"/>
              <a:t>Libraries:</a:t>
            </a:r>
            <a:r>
              <a:rPr lang="en-IN" dirty="0"/>
              <a:t> Pandas, NumPy, Scikit-learn, Matplotlib, Seaborn</a:t>
            </a:r>
          </a:p>
          <a:p>
            <a:r>
              <a:rPr lang="en-IN" b="1" dirty="0"/>
              <a:t>Models Applied:</a:t>
            </a:r>
            <a:r>
              <a:rPr lang="en-IN" dirty="0"/>
              <a:t> Logistic Regression, SVM, Random Forest, KNN, Decision Tree</a:t>
            </a:r>
          </a:p>
          <a:p>
            <a:r>
              <a:rPr lang="en-IN" b="1" dirty="0"/>
              <a:t>Environment:</a:t>
            </a:r>
            <a:r>
              <a:rPr lang="en-IN" dirty="0"/>
              <a:t> </a:t>
            </a:r>
            <a:r>
              <a:rPr lang="en-IN" dirty="0" err="1"/>
              <a:t>Jupyter</a:t>
            </a:r>
            <a:r>
              <a:rPr lang="en-IN" dirty="0"/>
              <a:t> Notebook / Google </a:t>
            </a:r>
            <a:r>
              <a:rPr lang="en-IN" dirty="0" err="1"/>
              <a:t>Colab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753F-15B3-64B7-98FF-5F5F3A01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2231CE-13BB-847F-B4A0-616A62A07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				Methodology</a:t>
            </a:r>
          </a:p>
          <a:p>
            <a:r>
              <a:rPr lang="en-IN" dirty="0"/>
              <a:t>Data Preprocessing</a:t>
            </a:r>
          </a:p>
          <a:p>
            <a:pPr lvl="1"/>
            <a:r>
              <a:rPr lang="en-IN" sz="2800" dirty="0"/>
              <a:t>Handling missing/zero values</a:t>
            </a:r>
          </a:p>
          <a:p>
            <a:pPr lvl="1"/>
            <a:r>
              <a:rPr lang="en-IN" sz="2800" dirty="0"/>
              <a:t>Normalization of features</a:t>
            </a:r>
          </a:p>
          <a:p>
            <a:pPr lvl="1"/>
            <a:r>
              <a:rPr lang="en-IN" sz="2800" dirty="0"/>
              <a:t>Train-Test Split</a:t>
            </a:r>
          </a:p>
          <a:p>
            <a:r>
              <a:rPr lang="en-IN" dirty="0"/>
              <a:t>Model Training</a:t>
            </a:r>
          </a:p>
          <a:p>
            <a:pPr lvl="1"/>
            <a:r>
              <a:rPr lang="en-IN" sz="2800" dirty="0"/>
              <a:t>Applied multiple ML algorithms</a:t>
            </a:r>
          </a:p>
          <a:p>
            <a:r>
              <a:rPr lang="en-IN" dirty="0"/>
              <a:t>Model Evaluation</a:t>
            </a:r>
          </a:p>
          <a:p>
            <a:pPr lvl="1"/>
            <a:r>
              <a:rPr lang="en-IN" sz="2800" dirty="0"/>
              <a:t>Accuracy, Precision, Recall, F1-score</a:t>
            </a:r>
          </a:p>
          <a:p>
            <a:pPr lvl="1"/>
            <a:r>
              <a:rPr lang="en-IN" sz="2800" dirty="0"/>
              <a:t>Confusion Matrix</a:t>
            </a:r>
          </a:p>
          <a:p>
            <a:pPr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8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FCDE9-4C4A-FC32-2FAD-83348506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311EF9-E864-A3C6-2607-DF00D0FD9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Results</a:t>
            </a:r>
          </a:p>
          <a:p>
            <a:r>
              <a:rPr lang="en-IN" dirty="0"/>
              <a:t>Logistic Regression: ~77% accuracy</a:t>
            </a:r>
          </a:p>
          <a:p>
            <a:r>
              <a:rPr lang="en-IN" dirty="0"/>
              <a:t>SVM: ~79% accuracy</a:t>
            </a:r>
          </a:p>
          <a:p>
            <a:r>
              <a:rPr lang="en-IN" dirty="0"/>
              <a:t>Random Forest: ~82% accuracy (Best model)</a:t>
            </a:r>
          </a:p>
          <a:p>
            <a:r>
              <a:rPr lang="en-IN" dirty="0"/>
              <a:t>Decision Tree: ~75% accuracy</a:t>
            </a:r>
          </a:p>
          <a:p>
            <a:r>
              <a:rPr lang="en-IN" b="1" dirty="0"/>
              <a:t>Best Performing Model:</a:t>
            </a:r>
            <a:r>
              <a:rPr lang="en-IN" dirty="0"/>
              <a:t> Random Forest (highest accuracy &amp; balanced metrics)</a:t>
            </a:r>
          </a:p>
          <a:p>
            <a:pPr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17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9C840-074B-7045-0949-CBBD2C8A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109E78-8022-DEAE-E00C-15B7F9EBDACA}"/>
              </a:ext>
            </a:extLst>
          </p:cNvPr>
          <p:cNvSpPr txBox="1"/>
          <p:nvPr/>
        </p:nvSpPr>
        <p:spPr>
          <a:xfrm>
            <a:off x="263352" y="1186041"/>
            <a:ext cx="62139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Pregnancies vs. Age (0.54): Older women tend to have more pregnancies.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Glucose vs. Outcome (0.47): Glucose levels have the strongest positive correlation with diabetes outcome → high glucose strongly indicates diabetes.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BMI vs. Outcome (0.29): Higher BMI is also associated with diabetes.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Insulin vs. </a:t>
            </a:r>
            <a:r>
              <a:rPr lang="en-IN" sz="2400" dirty="0" err="1"/>
              <a:t>SkinThickness</a:t>
            </a:r>
            <a:r>
              <a:rPr lang="en-IN" sz="2400" dirty="0"/>
              <a:t> (0.44): These two are correlated, since skin thickness is often linked with fat/insulin resistance.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3D41B5-E59A-93E5-47F6-09BE8B085C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836712"/>
            <a:ext cx="4752528" cy="511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83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0935B3-A4BD-D667-6B99-04419F3A5681}"/>
              </a:ext>
            </a:extLst>
          </p:cNvPr>
          <p:cNvSpPr txBox="1"/>
          <p:nvPr/>
        </p:nvSpPr>
        <p:spPr>
          <a:xfrm>
            <a:off x="479376" y="1052736"/>
            <a:ext cx="11449272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                                                   </a:t>
            </a:r>
            <a:r>
              <a:rPr lang="en-IN" sz="2800" b="1" dirty="0"/>
              <a:t>Code For </a:t>
            </a:r>
            <a:r>
              <a:rPr lang="en-IN" sz="2800" b="1" dirty="0" err="1"/>
              <a:t>Diabaties</a:t>
            </a:r>
            <a:r>
              <a:rPr lang="en-IN" sz="2800" b="1" dirty="0"/>
              <a:t> Prediction</a:t>
            </a:r>
          </a:p>
          <a:p>
            <a:endParaRPr lang="en-IN" sz="2800" b="1" dirty="0"/>
          </a:p>
          <a:p>
            <a:r>
              <a:rPr lang="en-IN" sz="2000" dirty="0"/>
              <a:t>import pandas as pd</a:t>
            </a:r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from </a:t>
            </a:r>
            <a:r>
              <a:rPr lang="en-IN" sz="2000" dirty="0" err="1"/>
              <a:t>sklearn.datasets</a:t>
            </a:r>
            <a:r>
              <a:rPr lang="en-IN" sz="2000" dirty="0"/>
              <a:t> import </a:t>
            </a:r>
            <a:r>
              <a:rPr lang="en-IN" sz="2000" dirty="0" err="1"/>
              <a:t>load_diabetes</a:t>
            </a:r>
            <a:endParaRPr lang="en-IN" sz="2000" dirty="0"/>
          </a:p>
          <a:p>
            <a:r>
              <a:rPr lang="en-IN" sz="2000" dirty="0"/>
              <a:t># load diabetes dataset from </a:t>
            </a:r>
            <a:r>
              <a:rPr lang="en-IN" sz="2000" dirty="0" err="1"/>
              <a:t>sklearn</a:t>
            </a:r>
            <a:endParaRPr lang="en-IN" sz="2000" dirty="0"/>
          </a:p>
          <a:p>
            <a:r>
              <a:rPr lang="en-IN" sz="2000" dirty="0"/>
              <a:t>diabetes = </a:t>
            </a:r>
            <a:r>
              <a:rPr lang="en-IN" sz="2000" dirty="0" err="1"/>
              <a:t>load_diabetes</a:t>
            </a:r>
            <a:r>
              <a:rPr lang="en-IN" sz="2000" dirty="0"/>
              <a:t>(</a:t>
            </a:r>
            <a:r>
              <a:rPr lang="en-IN" sz="2000" dirty="0" err="1"/>
              <a:t>as_frame</a:t>
            </a:r>
            <a:r>
              <a:rPr lang="en-IN" sz="2000" dirty="0"/>
              <a:t>=True)</a:t>
            </a:r>
          </a:p>
          <a:p>
            <a:r>
              <a:rPr lang="en-IN" sz="2000" dirty="0"/>
              <a:t>dataset = </a:t>
            </a:r>
            <a:r>
              <a:rPr lang="en-IN" sz="2000" dirty="0" err="1"/>
              <a:t>diabetes.frame</a:t>
            </a:r>
            <a:endParaRPr lang="en-IN" sz="2000" dirty="0"/>
          </a:p>
          <a:p>
            <a:r>
              <a:rPr lang="en-IN" sz="2000" dirty="0"/>
              <a:t># </a:t>
            </a:r>
            <a:r>
              <a:rPr lang="en-IN" sz="2000" dirty="0" err="1"/>
              <a:t>sklearn's</a:t>
            </a:r>
            <a:r>
              <a:rPr lang="en-IN" sz="2000" dirty="0"/>
              <a:t> diabetes dataset doesn't have "Outcome“</a:t>
            </a:r>
          </a:p>
          <a:p>
            <a:r>
              <a:rPr lang="en-IN" sz="2000" dirty="0"/>
              <a:t># so let's create a fake binary </a:t>
            </a:r>
            <a:r>
              <a:rPr lang="en-IN" sz="2000" dirty="0" err="1"/>
              <a:t>targetdataset</a:t>
            </a:r>
            <a:r>
              <a:rPr lang="en-IN" sz="2000" dirty="0"/>
              <a:t>["Outcome"] = </a:t>
            </a:r>
            <a:r>
              <a:rPr lang="en-IN" sz="2000" dirty="0" err="1"/>
              <a:t>np.where</a:t>
            </a:r>
            <a:r>
              <a:rPr lang="en-IN" sz="2000" dirty="0"/>
              <a:t>(dataset["target"] &gt; dataset["target"].mean(), 1, 0)</a:t>
            </a:r>
          </a:p>
          <a:p>
            <a:r>
              <a:rPr lang="en-IN" sz="2000" dirty="0"/>
              <a:t># drop original target column to match your old code</a:t>
            </a:r>
          </a:p>
          <a:p>
            <a:r>
              <a:rPr lang="en-IN" sz="2000" dirty="0"/>
              <a:t>dataset = </a:t>
            </a:r>
            <a:r>
              <a:rPr lang="en-IN" sz="2000" dirty="0" err="1"/>
              <a:t>dataset.drop</a:t>
            </a:r>
            <a:r>
              <a:rPr lang="en-IN" sz="2000" dirty="0"/>
              <a:t>("target", axis=1)</a:t>
            </a:r>
          </a:p>
          <a:p>
            <a:r>
              <a:rPr lang="en-IN" sz="2000" dirty="0"/>
              <a:t># rename some columns to match original diabetes.csv structure</a:t>
            </a:r>
          </a:p>
          <a:p>
            <a:r>
              <a:rPr lang="en-IN" sz="2000" dirty="0"/>
              <a:t># The dataset now has 11 columns (10 original features + 1 new 'Outcome’)</a:t>
            </a:r>
          </a:p>
          <a:p>
            <a:r>
              <a:rPr lang="en-IN" sz="2000" dirty="0"/>
              <a:t># The original diabetes dataset features are: age, sex, </a:t>
            </a:r>
            <a:r>
              <a:rPr lang="en-IN" sz="2000" dirty="0" err="1"/>
              <a:t>bmi</a:t>
            </a:r>
            <a:r>
              <a:rPr lang="en-IN" sz="2000" dirty="0"/>
              <a:t>, bp, s1, s2, s3, s4, s5, s6</a:t>
            </a:r>
          </a:p>
          <a:p>
            <a:r>
              <a:rPr lang="en-IN" sz="2000" dirty="0" err="1"/>
              <a:t>dataset.columns</a:t>
            </a:r>
            <a:r>
              <a:rPr lang="en-IN" sz="2000" dirty="0"/>
              <a:t> = ['age', 'sex', '</a:t>
            </a:r>
            <a:r>
              <a:rPr lang="en-IN" sz="2000" dirty="0" err="1"/>
              <a:t>bmi</a:t>
            </a:r>
            <a:r>
              <a:rPr lang="en-IN" sz="2000" dirty="0"/>
              <a:t>', 'bp', '</a:t>
            </a:r>
            <a:r>
              <a:rPr lang="en-IN" sz="2000" dirty="0" err="1"/>
              <a:t>total_cholesterol</a:t>
            </a:r>
            <a:r>
              <a:rPr lang="en-IN" sz="2000" dirty="0"/>
              <a:t>', '</a:t>
            </a:r>
            <a:r>
              <a:rPr lang="en-IN" sz="2000" dirty="0" err="1"/>
              <a:t>ldl</a:t>
            </a:r>
            <a:r>
              <a:rPr lang="en-IN" sz="2000" dirty="0"/>
              <a:t>', '</a:t>
            </a:r>
            <a:r>
              <a:rPr lang="en-IN" sz="2000" dirty="0" err="1"/>
              <a:t>hdl</a:t>
            </a:r>
            <a:r>
              <a:rPr lang="en-IN" sz="2000" dirty="0"/>
              <a:t>', '</a:t>
            </a:r>
            <a:r>
              <a:rPr lang="en-IN" sz="2000" dirty="0" err="1"/>
              <a:t>tchdl_ratio</a:t>
            </a:r>
            <a:r>
              <a:rPr lang="en-IN" sz="2000" dirty="0"/>
              <a:t>', '</a:t>
            </a:r>
            <a:r>
              <a:rPr lang="en-IN" sz="2000" dirty="0" err="1"/>
              <a:t>possibly_log_triglycerides</a:t>
            </a:r>
            <a:r>
              <a:rPr lang="en-IN" sz="2000" dirty="0"/>
              <a:t>', '</a:t>
            </a:r>
            <a:r>
              <a:rPr lang="en-IN" sz="2000" dirty="0" err="1"/>
              <a:t>blood_sugar</a:t>
            </a:r>
            <a:r>
              <a:rPr lang="en-IN" sz="2000" dirty="0"/>
              <a:t>', 'Outcome’].</a:t>
            </a:r>
          </a:p>
        </p:txBody>
      </p:sp>
    </p:spTree>
    <p:extLst>
      <p:ext uri="{BB962C8B-B14F-4D97-AF65-F5344CB8AC3E}">
        <p14:creationId xmlns:p14="http://schemas.microsoft.com/office/powerpoint/2010/main" val="3716404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EC955B-C180-E8A8-1257-01E14DEB645E}"/>
              </a:ext>
            </a:extLst>
          </p:cNvPr>
          <p:cNvSpPr txBox="1"/>
          <p:nvPr/>
        </p:nvSpPr>
        <p:spPr>
          <a:xfrm>
            <a:off x="263352" y="1124744"/>
            <a:ext cx="120973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# The original diabetes dataset features are: age, sex, </a:t>
            </a:r>
            <a:r>
              <a:rPr lang="en-IN" sz="2000" dirty="0" err="1"/>
              <a:t>bmi</a:t>
            </a:r>
            <a:r>
              <a:rPr lang="en-IN" sz="2000" dirty="0"/>
              <a:t>, bp, s1, s2, s3, s4, s5, s6</a:t>
            </a:r>
          </a:p>
          <a:p>
            <a:r>
              <a:rPr lang="en-IN" sz="2000" dirty="0" err="1"/>
              <a:t>dataset.columns</a:t>
            </a:r>
            <a:r>
              <a:rPr lang="en-IN" sz="2000" dirty="0"/>
              <a:t> = ['age', 'sex', '</a:t>
            </a:r>
            <a:r>
              <a:rPr lang="en-IN" sz="2000" dirty="0" err="1"/>
              <a:t>bmi</a:t>
            </a:r>
            <a:r>
              <a:rPr lang="en-IN" sz="2000" dirty="0"/>
              <a:t>', 'bp', '</a:t>
            </a:r>
            <a:r>
              <a:rPr lang="en-IN" sz="2000" dirty="0" err="1"/>
              <a:t>total_cholesterol</a:t>
            </a:r>
            <a:r>
              <a:rPr lang="en-IN" sz="2000" dirty="0"/>
              <a:t>', '</a:t>
            </a:r>
            <a:r>
              <a:rPr lang="en-IN" sz="2000" dirty="0" err="1"/>
              <a:t>ldl</a:t>
            </a:r>
            <a:r>
              <a:rPr lang="en-IN" sz="2000" dirty="0"/>
              <a:t>', '</a:t>
            </a:r>
            <a:r>
              <a:rPr lang="en-IN" sz="2000" dirty="0" err="1"/>
              <a:t>hdl</a:t>
            </a:r>
            <a:r>
              <a:rPr lang="en-IN" sz="2000" dirty="0"/>
              <a:t>', '</a:t>
            </a:r>
            <a:r>
              <a:rPr lang="en-IN" sz="2000" dirty="0" err="1"/>
              <a:t>tchdl_ratio</a:t>
            </a:r>
            <a:r>
              <a:rPr lang="en-IN" sz="2000" dirty="0"/>
              <a:t>', '</a:t>
            </a:r>
            <a:r>
              <a:rPr lang="en-IN" sz="2000" dirty="0" err="1"/>
              <a:t>possibly_log_triglycerides</a:t>
            </a:r>
            <a:r>
              <a:rPr lang="en-IN" sz="2000" dirty="0"/>
              <a:t>', '</a:t>
            </a:r>
            <a:r>
              <a:rPr lang="en-IN" sz="2000" dirty="0" err="1"/>
              <a:t>blood_sugar</a:t>
            </a:r>
            <a:r>
              <a:rPr lang="en-IN" sz="2000" dirty="0"/>
              <a:t>', 'Outcome']</a:t>
            </a:r>
          </a:p>
          <a:p>
            <a:endParaRPr lang="en-IN" sz="2000" dirty="0"/>
          </a:p>
          <a:p>
            <a:r>
              <a:rPr lang="en-IN" sz="2000" dirty="0"/>
              <a:t>import </a:t>
            </a:r>
            <a:r>
              <a:rPr lang="en-IN" sz="2000" dirty="0" err="1"/>
              <a:t>matplotlib.pyplot</a:t>
            </a:r>
            <a:r>
              <a:rPr lang="en-IN" sz="2000" dirty="0"/>
              <a:t> as </a:t>
            </a:r>
            <a:r>
              <a:rPr lang="en-IN" sz="2000" dirty="0" err="1"/>
              <a:t>plt</a:t>
            </a:r>
            <a:endParaRPr lang="en-IN" sz="2000" dirty="0"/>
          </a:p>
          <a:p>
            <a:r>
              <a:rPr lang="en-IN" sz="2000" dirty="0"/>
              <a:t>import seaborn as </a:t>
            </a:r>
            <a:r>
              <a:rPr lang="en-IN" sz="2000" dirty="0" err="1"/>
              <a:t>sns</a:t>
            </a:r>
            <a:endParaRPr lang="en-IN" sz="2000" dirty="0"/>
          </a:p>
          <a:p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r>
              <a:rPr lang="en-IN" sz="2000" dirty="0"/>
              <a:t># Add dummy 'Pregnancies' and 'Glucose' columns for plotting purposes</a:t>
            </a:r>
          </a:p>
          <a:p>
            <a:r>
              <a:rPr lang="en-IN" sz="2000" dirty="0"/>
              <a:t># Replace this with actual data loading or generation if </a:t>
            </a:r>
            <a:r>
              <a:rPr lang="en-IN" sz="2000" dirty="0" err="1"/>
              <a:t>availabledataset</a:t>
            </a:r>
            <a:r>
              <a:rPr lang="en-IN" sz="2000" dirty="0"/>
              <a:t>['Pregnancies'] = </a:t>
            </a:r>
            <a:r>
              <a:rPr lang="en-IN" sz="2000" dirty="0" err="1"/>
              <a:t>np.random.randint</a:t>
            </a:r>
            <a:r>
              <a:rPr lang="en-IN" sz="2000" dirty="0"/>
              <a:t>(0, 15, size=</a:t>
            </a:r>
            <a:r>
              <a:rPr lang="en-IN" sz="2000" dirty="0" err="1"/>
              <a:t>len</a:t>
            </a:r>
            <a:r>
              <a:rPr lang="en-IN" sz="2000" dirty="0"/>
              <a:t>(dataset))dataset['Glucose'] = </a:t>
            </a:r>
            <a:r>
              <a:rPr lang="en-IN" sz="2000" dirty="0" err="1"/>
              <a:t>np.random.randint</a:t>
            </a:r>
            <a:r>
              <a:rPr lang="en-IN" sz="2000" dirty="0"/>
              <a:t>(50, 200, size=</a:t>
            </a:r>
            <a:r>
              <a:rPr lang="en-IN" sz="2000" dirty="0" err="1"/>
              <a:t>len</a:t>
            </a:r>
            <a:r>
              <a:rPr lang="en-IN" sz="2000" dirty="0"/>
              <a:t>(dataset))</a:t>
            </a:r>
          </a:p>
          <a:p>
            <a:r>
              <a:rPr lang="en-IN" sz="2000" dirty="0"/>
              <a:t># Pregnancies density plot</a:t>
            </a:r>
          </a:p>
          <a:p>
            <a:r>
              <a:rPr lang="en-IN" sz="2000" dirty="0" err="1"/>
              <a:t>plt.figure</a:t>
            </a:r>
            <a:r>
              <a:rPr lang="en-IN" sz="2000" dirty="0"/>
              <a:t>(</a:t>
            </a:r>
            <a:r>
              <a:rPr lang="en-IN" sz="2000" dirty="0" err="1"/>
              <a:t>figsize</a:t>
            </a:r>
            <a:r>
              <a:rPr lang="en-IN" sz="2000" dirty="0"/>
              <a:t>=(10,10))</a:t>
            </a:r>
          </a:p>
          <a:p>
            <a:r>
              <a:rPr lang="en-IN" sz="2000" dirty="0" err="1"/>
              <a:t>kd</a:t>
            </a:r>
            <a:r>
              <a:rPr lang="en-IN" sz="2000" dirty="0"/>
              <a:t>=</a:t>
            </a:r>
            <a:r>
              <a:rPr lang="en-IN" sz="2000" dirty="0" err="1"/>
              <a:t>sns.kdeplot</a:t>
            </a:r>
            <a:r>
              <a:rPr lang="en-IN" sz="2000" dirty="0"/>
              <a:t>(dataset['Pregnancies'][dataset["Outcome"]==1],</a:t>
            </a:r>
            <a:r>
              <a:rPr lang="en-IN" sz="2000" dirty="0" err="1"/>
              <a:t>color</a:t>
            </a:r>
            <a:r>
              <a:rPr lang="en-IN" sz="2000" dirty="0"/>
              <a:t>="</a:t>
            </a:r>
            <a:r>
              <a:rPr lang="en-IN" sz="2000" dirty="0" err="1"/>
              <a:t>Green",fill</a:t>
            </a:r>
            <a:r>
              <a:rPr lang="en-IN" sz="2000" dirty="0"/>
              <a:t>=True)</a:t>
            </a:r>
          </a:p>
          <a:p>
            <a:r>
              <a:rPr lang="en-IN" sz="2000" dirty="0" err="1"/>
              <a:t>kd</a:t>
            </a:r>
            <a:r>
              <a:rPr lang="en-IN" sz="2000" dirty="0"/>
              <a:t>=</a:t>
            </a:r>
            <a:r>
              <a:rPr lang="en-IN" sz="2000" dirty="0" err="1"/>
              <a:t>sns.kdeplot</a:t>
            </a:r>
            <a:r>
              <a:rPr lang="en-IN" sz="2000" dirty="0"/>
              <a:t>(dataset['Pregnancies'][dataset["Outcome"]==0],</a:t>
            </a:r>
            <a:r>
              <a:rPr lang="en-IN" sz="2000" dirty="0" err="1"/>
              <a:t>color</a:t>
            </a:r>
            <a:r>
              <a:rPr lang="en-IN" sz="2000" dirty="0"/>
              <a:t>="</a:t>
            </a:r>
            <a:r>
              <a:rPr lang="en-IN" sz="2000" dirty="0" err="1"/>
              <a:t>Orange",fill</a:t>
            </a:r>
            <a:r>
              <a:rPr lang="en-IN" sz="2000" dirty="0"/>
              <a:t>=True)</a:t>
            </a:r>
          </a:p>
          <a:p>
            <a:r>
              <a:rPr lang="en-IN" sz="2000" dirty="0" err="1"/>
              <a:t>kd.set_xlabel</a:t>
            </a:r>
            <a:r>
              <a:rPr lang="en-IN" sz="2000" dirty="0"/>
              <a:t>("Pregnancies")</a:t>
            </a:r>
          </a:p>
          <a:p>
            <a:r>
              <a:rPr lang="en-IN" sz="2000" dirty="0" err="1"/>
              <a:t>kd.set_ylabel</a:t>
            </a:r>
            <a:r>
              <a:rPr lang="en-IN" sz="2000" dirty="0"/>
              <a:t>("Density")</a:t>
            </a:r>
          </a:p>
          <a:p>
            <a:r>
              <a:rPr lang="en-IN" sz="2000" dirty="0" err="1"/>
              <a:t>kd.legend</a:t>
            </a:r>
            <a:r>
              <a:rPr lang="en-IN" sz="2000" dirty="0"/>
              <a:t>(["</a:t>
            </a:r>
            <a:r>
              <a:rPr lang="en-IN" sz="2000" dirty="0" err="1"/>
              <a:t>Positive","Negative</a:t>
            </a:r>
            <a:r>
              <a:rPr lang="en-IN" sz="2000" dirty="0"/>
              <a:t>"])</a:t>
            </a:r>
          </a:p>
          <a:p>
            <a:r>
              <a:rPr lang="en-IN" sz="2000" dirty="0" err="1"/>
              <a:t>plt.title</a:t>
            </a:r>
            <a:r>
              <a:rPr lang="en-IN" sz="2000" dirty="0"/>
              <a:t>("Pregnancies Density Plot")</a:t>
            </a:r>
          </a:p>
        </p:txBody>
      </p:sp>
    </p:spTree>
    <p:extLst>
      <p:ext uri="{BB962C8B-B14F-4D97-AF65-F5344CB8AC3E}">
        <p14:creationId xmlns:p14="http://schemas.microsoft.com/office/powerpoint/2010/main" val="3173495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9B2E8-4285-AF4B-5179-9B1686693A60}"/>
              </a:ext>
            </a:extLst>
          </p:cNvPr>
          <p:cNvSpPr txBox="1"/>
          <p:nvPr/>
        </p:nvSpPr>
        <p:spPr>
          <a:xfrm>
            <a:off x="263352" y="1196752"/>
            <a:ext cx="907300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# Glucose density </a:t>
            </a:r>
            <a:r>
              <a:rPr lang="en-IN" sz="2000" dirty="0" err="1"/>
              <a:t>plotplt.figure</a:t>
            </a:r>
            <a:r>
              <a:rPr lang="en-IN" sz="2000" dirty="0"/>
              <a:t>(</a:t>
            </a:r>
            <a:r>
              <a:rPr lang="en-IN" sz="2000" dirty="0" err="1"/>
              <a:t>figsize</a:t>
            </a:r>
            <a:r>
              <a:rPr lang="en-IN" sz="2000" dirty="0"/>
              <a:t>=(10,10))</a:t>
            </a:r>
          </a:p>
          <a:p>
            <a:r>
              <a:rPr lang="en-IN" sz="2000" dirty="0" err="1"/>
              <a:t>kd</a:t>
            </a:r>
            <a:r>
              <a:rPr lang="en-IN" sz="2000" dirty="0"/>
              <a:t>=</a:t>
            </a:r>
            <a:r>
              <a:rPr lang="en-IN" sz="2000" dirty="0" err="1"/>
              <a:t>sns.kdeplot</a:t>
            </a:r>
            <a:r>
              <a:rPr lang="en-IN" sz="2000" dirty="0"/>
              <a:t>(dataset['Glucose'][dataset["Outcome"]==1],</a:t>
            </a:r>
            <a:r>
              <a:rPr lang="en-IN" sz="2000" dirty="0" err="1"/>
              <a:t>color</a:t>
            </a:r>
            <a:r>
              <a:rPr lang="en-IN" sz="2000" dirty="0"/>
              <a:t>="</a:t>
            </a:r>
            <a:r>
              <a:rPr lang="en-IN" sz="2000" dirty="0" err="1"/>
              <a:t>Green",fill</a:t>
            </a:r>
            <a:r>
              <a:rPr lang="en-IN" sz="2000" dirty="0"/>
              <a:t>=True)</a:t>
            </a:r>
          </a:p>
          <a:p>
            <a:r>
              <a:rPr lang="en-IN" sz="2000" dirty="0" err="1"/>
              <a:t>kd</a:t>
            </a:r>
            <a:r>
              <a:rPr lang="en-IN" sz="2000" dirty="0"/>
              <a:t>=</a:t>
            </a:r>
            <a:r>
              <a:rPr lang="en-IN" sz="2000" dirty="0" err="1"/>
              <a:t>sns.kdeplot</a:t>
            </a:r>
            <a:r>
              <a:rPr lang="en-IN" sz="2000" dirty="0"/>
              <a:t>(dataset['Glucose'][dataset["Outcome"]==0],</a:t>
            </a:r>
            <a:r>
              <a:rPr lang="en-IN" sz="2000" dirty="0" err="1"/>
              <a:t>color</a:t>
            </a:r>
            <a:r>
              <a:rPr lang="en-IN" sz="2000" dirty="0"/>
              <a:t>="</a:t>
            </a:r>
            <a:r>
              <a:rPr lang="en-IN" sz="2000" dirty="0" err="1"/>
              <a:t>Orange",fill</a:t>
            </a:r>
            <a:r>
              <a:rPr lang="en-IN" sz="2000" dirty="0"/>
              <a:t>=True</a:t>
            </a:r>
          </a:p>
          <a:p>
            <a:r>
              <a:rPr lang="en-IN" sz="2000" dirty="0" err="1"/>
              <a:t>kd.set_xlabel</a:t>
            </a:r>
            <a:r>
              <a:rPr lang="en-IN" sz="2000" dirty="0"/>
              <a:t>("Glucose")</a:t>
            </a:r>
          </a:p>
          <a:p>
            <a:r>
              <a:rPr lang="en-IN" sz="2000" dirty="0" err="1"/>
              <a:t>kd.set_ylabel</a:t>
            </a:r>
            <a:r>
              <a:rPr lang="en-IN" sz="2000" dirty="0"/>
              <a:t>("Density")</a:t>
            </a:r>
          </a:p>
          <a:p>
            <a:r>
              <a:rPr lang="en-IN" sz="2000" dirty="0" err="1"/>
              <a:t>kd.legend</a:t>
            </a:r>
            <a:r>
              <a:rPr lang="en-IN" sz="2000" dirty="0"/>
              <a:t>(["</a:t>
            </a:r>
            <a:r>
              <a:rPr lang="en-IN" sz="2000" dirty="0" err="1"/>
              <a:t>Positive","Negative</a:t>
            </a:r>
            <a:r>
              <a:rPr lang="en-IN" sz="2000" dirty="0"/>
              <a:t>"])</a:t>
            </a:r>
          </a:p>
          <a:p>
            <a:r>
              <a:rPr lang="en-IN" sz="2000" dirty="0" err="1"/>
              <a:t>plt.title</a:t>
            </a:r>
            <a:r>
              <a:rPr lang="en-IN" sz="2000" dirty="0"/>
              <a:t>("Glucose Density Plot")</a:t>
            </a:r>
          </a:p>
          <a:p>
            <a:r>
              <a:rPr lang="en-IN" sz="2000" dirty="0" err="1"/>
              <a:t>plt.figure</a:t>
            </a:r>
            <a:r>
              <a:rPr lang="en-IN" sz="2000" dirty="0"/>
              <a:t>(</a:t>
            </a:r>
            <a:r>
              <a:rPr lang="en-IN" sz="2000" dirty="0" err="1"/>
              <a:t>figsize</a:t>
            </a:r>
            <a:r>
              <a:rPr lang="en-IN" sz="2000" dirty="0"/>
              <a:t>=(10,10))</a:t>
            </a:r>
            <a:r>
              <a:rPr lang="en-IN" sz="2000" dirty="0" err="1"/>
              <a:t>sns.heatmap</a:t>
            </a:r>
            <a:r>
              <a:rPr lang="en-IN" sz="2000" dirty="0"/>
              <a:t>(</a:t>
            </a:r>
            <a:r>
              <a:rPr lang="en-IN" sz="2000" dirty="0" err="1"/>
              <a:t>dataset.corr</a:t>
            </a:r>
            <a:r>
              <a:rPr lang="en-IN" sz="2000" dirty="0"/>
              <a:t>(), </a:t>
            </a:r>
            <a:r>
              <a:rPr lang="en-IN" sz="2000" dirty="0" err="1"/>
              <a:t>annot</a:t>
            </a:r>
            <a:r>
              <a:rPr lang="en-IN" sz="2000" dirty="0"/>
              <a:t>=True, </a:t>
            </a:r>
            <a:r>
              <a:rPr lang="en-IN" sz="2000" dirty="0" err="1"/>
              <a:t>cmap</a:t>
            </a:r>
            <a:r>
              <a:rPr lang="en-IN" sz="2000" dirty="0"/>
              <a:t>="</a:t>
            </a:r>
            <a:r>
              <a:rPr lang="en-IN" sz="2000" dirty="0" err="1"/>
              <a:t>coolwarm</a:t>
            </a:r>
            <a:r>
              <a:rPr lang="en-IN" sz="2000" dirty="0"/>
              <a:t>") </a:t>
            </a:r>
          </a:p>
          <a:p>
            <a:r>
              <a:rPr lang="en-IN" sz="2000" dirty="0"/>
              <a:t> # changed from "</a:t>
            </a:r>
            <a:r>
              <a:rPr lang="en-IN" sz="2000" dirty="0" err="1"/>
              <a:t>YlGn</a:t>
            </a:r>
            <a:r>
              <a:rPr lang="en-IN" sz="2000" dirty="0"/>
              <a:t>" to "</a:t>
            </a:r>
            <a:r>
              <a:rPr lang="en-IN" sz="2000" dirty="0" err="1"/>
              <a:t>coolwarm</a:t>
            </a:r>
            <a:r>
              <a:rPr lang="en-IN" sz="2000" dirty="0"/>
              <a:t>“</a:t>
            </a:r>
          </a:p>
          <a:p>
            <a:r>
              <a:rPr lang="en-IN" sz="2000" dirty="0" err="1"/>
              <a:t>plt.title</a:t>
            </a:r>
            <a:r>
              <a:rPr lang="en-IN" sz="2000" dirty="0"/>
              <a:t>("Correlation Heatmap (Modified)")</a:t>
            </a:r>
          </a:p>
          <a:p>
            <a:r>
              <a:rPr lang="en-IN" sz="2000" dirty="0" err="1"/>
              <a:t>plt.show</a:t>
            </a:r>
            <a:r>
              <a:rPr lang="en-IN" sz="2000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42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A46D7-1D5A-CFC5-82D9-D737C2DF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6F821E7-B03C-0A31-DFAA-F46B872B48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84510"/>
            <a:ext cx="7848872" cy="648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54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3A8F72-7323-E493-D1A9-BC22B2060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0" y="0"/>
            <a:ext cx="6921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145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D68F-4DC6-0EDD-FF53-9CA0CC5F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D347FA-E124-0015-2180-3562D391E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4000" b="1" dirty="0"/>
              <a:t>			Challenges Faced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Imbalanced Dataset</a:t>
            </a:r>
            <a:r>
              <a:rPr lang="en-IN" dirty="0"/>
              <a:t> – fewer positive cases than negative.</a:t>
            </a:r>
          </a:p>
          <a:p>
            <a:r>
              <a:rPr lang="en-IN" b="1" dirty="0"/>
              <a:t>Overfitting</a:t>
            </a:r>
            <a:r>
              <a:rPr lang="en-IN" dirty="0"/>
              <a:t> in some models.</a:t>
            </a:r>
          </a:p>
          <a:p>
            <a:r>
              <a:rPr lang="en-IN" b="1" dirty="0"/>
              <a:t>Hyperparameter tuning</a:t>
            </a:r>
            <a:r>
              <a:rPr lang="en-IN" dirty="0"/>
              <a:t> needed for optimization.</a:t>
            </a:r>
          </a:p>
          <a:p>
            <a:r>
              <a:rPr lang="en-IN" b="1" dirty="0"/>
              <a:t>Limited dataset size</a:t>
            </a:r>
            <a:r>
              <a:rPr lang="en-IN" dirty="0"/>
              <a:t> (768 samples).</a:t>
            </a:r>
          </a:p>
          <a:p>
            <a:pPr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565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Future Scope</a:t>
            </a:r>
          </a:p>
          <a:p>
            <a:r>
              <a:rPr lang="en-US" dirty="0"/>
              <a:t>Deploy as a </a:t>
            </a:r>
            <a:r>
              <a:rPr lang="en-US" b="1" dirty="0"/>
              <a:t>web/mobile application</a:t>
            </a:r>
            <a:r>
              <a:rPr lang="en-US" dirty="0"/>
              <a:t>.</a:t>
            </a:r>
          </a:p>
          <a:p>
            <a:r>
              <a:rPr lang="en-US" dirty="0"/>
              <a:t>Connect with wearable devices for </a:t>
            </a:r>
            <a:r>
              <a:rPr lang="en-US" b="1" dirty="0"/>
              <a:t>real-time monitoring</a:t>
            </a:r>
            <a:r>
              <a:rPr lang="en-US" dirty="0"/>
              <a:t>.</a:t>
            </a:r>
          </a:p>
          <a:p>
            <a:r>
              <a:rPr lang="en-US" dirty="0"/>
              <a:t>Use </a:t>
            </a:r>
            <a:r>
              <a:rPr lang="en-US" b="1" dirty="0"/>
              <a:t>Deep Learning</a:t>
            </a:r>
            <a:r>
              <a:rPr lang="en-US" dirty="0"/>
              <a:t> for better accuracy.</a:t>
            </a:r>
          </a:p>
          <a:p>
            <a:r>
              <a:rPr lang="en-US" dirty="0"/>
              <a:t>Apply </a:t>
            </a:r>
            <a:r>
              <a:rPr lang="en-US" b="1" dirty="0"/>
              <a:t>Explainable AI (XAI)</a:t>
            </a:r>
            <a:r>
              <a:rPr lang="en-US" dirty="0"/>
              <a:t> to interpret predictions.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8E3CA-01E2-32C5-E507-4F78BB94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4B9A-569E-BC9C-67A5-8CF946236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				</a:t>
            </a:r>
            <a:r>
              <a:rPr lang="en-US" sz="4800" b="1" dirty="0"/>
              <a:t>Conclusion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Machine learning models can effectively predict diabetes.</a:t>
            </a:r>
          </a:p>
          <a:p>
            <a:r>
              <a:rPr lang="en-US" dirty="0"/>
              <a:t>Random Forest gave the best results in our case.</a:t>
            </a:r>
          </a:p>
          <a:p>
            <a:r>
              <a:rPr lang="en-US" dirty="0"/>
              <a:t>Early prediction can help in prevention &amp; better treatment.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161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>
              <a:buNone/>
            </a:pPr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8612</TotalTime>
  <Words>1040</Words>
  <Application>Microsoft Office PowerPoint</Application>
  <PresentationFormat>Widescreen</PresentationFormat>
  <Paragraphs>116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Abadi</vt:lpstr>
      <vt:lpstr>Arial</vt:lpstr>
      <vt:lpstr>Arial Rounded MT 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sai nanditha daggupati</cp:lastModifiedBy>
  <cp:revision>902</cp:revision>
  <cp:lastPrinted>2025-03-17T06:44:57Z</cp:lastPrinted>
  <dcterms:created xsi:type="dcterms:W3CDTF">2019-12-14T03:50:52Z</dcterms:created>
  <dcterms:modified xsi:type="dcterms:W3CDTF">2025-09-21T15:31:48Z</dcterms:modified>
</cp:coreProperties>
</file>